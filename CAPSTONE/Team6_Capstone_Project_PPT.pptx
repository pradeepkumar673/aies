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8" r:id="rId17"/>
    <p:sldId id="279" r:id="rId18"/>
    <p:sldId id="280" r:id="rId19"/>
    <p:sldId id="281" r:id="rId20"/>
    <p:sldId id="282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3588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242EB8A-02C1-4196-A1AC-2F701DCE65B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685800" lvl="1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143000" lvl="2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600200" lvl="3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057400" lvl="4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057400" lvl="5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2057400" lvl="6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3/27/2025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67FBCDE-0E39-4061-9CBC-B37FA2153C40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17560" y="1560000"/>
            <a:ext cx="10431360" cy="217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Improving Equipment Fault Diagnosis Accuracy and Reducing Diagnostic Questions for Maintenance Technicians Using a Backward-Chaining Expert System Compared with a Fixed Troubleshooting Checklist</a:t>
            </a:r>
            <a:endParaRPr lang="en-US" sz="32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49200" y="4000000"/>
            <a:ext cx="11414160" cy="24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lnSpc>
                <a:spcPct val="8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TEAM 6 : PRADEEPKUMAR S, PAMULAPATI KALYAN REDDY, PEDDASANI SAI GANESH REDDY, PONNAGANTI VENKATA KIRAN, PURINI PALLAVI</a:t>
            </a:r>
            <a:endParaRPr lang="en-US" sz="1600" b="0" strike="noStrike" spc="-1" dirty="0">
              <a:solidFill>
                <a:srgbClr val="000000"/>
              </a:solidFill>
              <a:latin typeface="Calibri"/>
            </a:endParaRPr>
          </a:p>
          <a:p>
            <a:pPr indent="0" algn="ctr">
              <a:lnSpc>
                <a:spcPct val="8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REGISTER NO. : 192425016, 192525278, 192525111, 192525425, 192525448</a:t>
            </a:r>
            <a:endParaRPr lang="en-US" sz="1600" b="0" strike="noStrike" spc="-1" dirty="0">
              <a:solidFill>
                <a:srgbClr val="000000"/>
              </a:solidFill>
              <a:latin typeface="Calibri"/>
            </a:endParaRPr>
          </a:p>
          <a:p>
            <a:pPr indent="0" algn="ctr">
              <a:lnSpc>
                <a:spcPct val="8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spc="-1" dirty="0">
                <a:solidFill>
                  <a:srgbClr val="000000"/>
                </a:solidFill>
                <a:latin typeface="Times New Roman"/>
              </a:rPr>
              <a:t>MLA0101 – artificial intelligence and expert systems</a:t>
            </a:r>
            <a:endParaRPr lang="en-US" sz="2200" b="0" strike="noStrike" spc="-1" dirty="0">
              <a:solidFill>
                <a:srgbClr val="000000"/>
              </a:solidFill>
              <a:latin typeface="Calibri"/>
            </a:endParaRPr>
          </a:p>
          <a:p>
            <a:pPr indent="0" algn="ctr">
              <a:lnSpc>
                <a:spcPct val="8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Course Faculty : </a:t>
            </a: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Dr.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Jayaprash</a:t>
            </a: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endParaRPr lang="en-US" sz="2200" b="0" strike="noStrike" spc="-1" dirty="0">
              <a:solidFill>
                <a:srgbClr val="000000"/>
              </a:solidFill>
              <a:latin typeface="Calibri"/>
            </a:endParaRPr>
          </a:p>
          <a:p>
            <a:pPr indent="0" algn="ctr">
              <a:lnSpc>
                <a:spcPct val="8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Professor, SIMATS Engineering, SIMATS</a:t>
            </a: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1027080" y="441360"/>
            <a:ext cx="10037880" cy="1030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665280"/>
            <a:ext cx="1051560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AGENDA </a:t>
            </a:r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>
              <a:lnSpc>
                <a:spcPct val="13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Abstract, Introduction and Problem Statement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3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Literature Review and Objectives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3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Proposed Methodology and Architecture Diagram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3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Project Demo, Datasets, Steps and the 5 Modules of the Methodology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3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Results, Comparison, Conclusion and Future Enhancements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1636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11" name="Footer Placeholder 6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Slide Number Placeholder 7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5AA5FAF-70BC-4608-9D60-6004320AAC37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665280"/>
            <a:ext cx="1051560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ABSTRACT </a:t>
            </a:r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Technicians usually troubleshoot equipment with a fixed checklist that asks the same questions for every fault.</a:t>
            </a:r>
            <a:endParaRPr lang="en-US" sz="22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This project builds a backward-chaining expert system. It picks a possible fault and asks only the questions needed to confirm or reject it.</a:t>
            </a:r>
            <a:endParaRPr lang="en-US" sz="22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 system has a fault–symptom knowledge base, an interactive questionnaire and a maintenance advice module.</a:t>
            </a:r>
            <a:endParaRPr lang="en-US" sz="22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It is compared with a fixed checklist on accuracy, number of questions, diagnosis time, unresolved cases and agreement with technicians.</a:t>
            </a:r>
            <a:endParaRPr lang="en-US" sz="22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5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1636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16" name="Date Placeholder 5"/>
          <p:cNvSpPr/>
          <p:nvPr/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3/27/2025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Footer Placeholder 6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Slide Number Placeholder 7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FD3AE6C-72E1-4BDE-AE1D-91BA644F4486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665280"/>
            <a:ext cx="1051560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INTRODUCTION </a:t>
            </a:r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When equipment fails, finding the cause quickly reduces downtime.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Technicians look at temperature, vibration, noise, power status and error codes.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An expert system stores expert knowledge as simple IF–THEN rules and uses them to reason like an experienced technician.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Backward chaining starts from a possible fault (the goal) and checks whether the symptoms support it.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1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2428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22" name="Date Placeholder 4"/>
          <p:cNvSpPr/>
          <p:nvPr/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3/27/2025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Footer Placeholder 5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Slide Number Placeholder 6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E6AFBB3-CF1B-4E6C-BF10-4E57A9B435DA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665280"/>
            <a:ext cx="1051560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INTRODUCTION </a:t>
            </a:r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 fixed checklist asks every question in the same order, even when many questions are not relevant.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 expert system asks only relevant questions, based on the answers given so far.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It also explains why a fault was chosen and which maintenance action to take.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This project compares both approaches on simulated equipment faults.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7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2428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28" name="Date Placeholder 4"/>
          <p:cNvSpPr/>
          <p:nvPr/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3/27/2025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Footer Placeholder 5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Slide Number Placeholder 6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AD2116D-BABE-4500-9477-6D21B9D41C1E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665280"/>
            <a:ext cx="10515600" cy="666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LITERATURE REVIEW </a:t>
            </a: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pic>
        <p:nvPicPr>
          <p:cNvPr id="32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76480" y="52560"/>
            <a:ext cx="5313600" cy="5443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33" name="Table 32"/>
          <p:cNvGraphicFramePr/>
          <p:nvPr>
            <p:extLst>
              <p:ext uri="{D42A27DB-BD31-4B8C-83A1-F6EECF244321}">
                <p14:modId xmlns:p14="http://schemas.microsoft.com/office/powerpoint/2010/main" val="3603230079"/>
              </p:ext>
            </p:extLst>
          </p:nvPr>
        </p:nvGraphicFramePr>
        <p:xfrm>
          <a:off x="708120" y="1625760"/>
          <a:ext cx="10900000" cy="4520000"/>
        </p:xfrm>
        <a:graphic>
          <a:graphicData uri="http://schemas.openxmlformats.org/drawingml/2006/table">
            <a:tbl>
              <a:tblPr/>
              <a:tblGrid>
                <a:gridCol w="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300" b="1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S.NO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300" b="1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DETAILS OF THE JOURNAL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300" b="1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ALGORITHM / METHODOLOGY USED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300" b="1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ADVANTAGES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300" b="1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DIS ADVANTAGES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strike="noStrike" spc="-1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Kodavade</a:t>
                      </a:r>
                      <a:r>
                        <a:rPr lang="en-US" sz="11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D.V. and Apte S.D., “Troubleshooting Microprocessor Based System using an Object Oriented Expert System,” IJACSA, Vol. 3, No. 5, 2022.</a:t>
                      </a:r>
                      <a:endParaRPr lang="en-US" sz="1100" b="0" strike="noStrike" spc="-1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Rule-based expert system with backward chaining and depth-first search of an object tree.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Fires fewer rules than a plain rule-based system; checked by industrial experts (85% accuracy reported).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Tested only on a microprocessor board; needs an expert-built knowledge base.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“An Expert System to Discover Cause of Failure for IBM Microcomputer Peripherals Interface,” ASAT Conference, Cairo, Vol. 3, 2025</a:t>
                      </a:r>
                      <a:endParaRPr lang="en-US" sz="1100" b="0" strike="noStrike" spc="-1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Backward-chaining IF–THEN rules (MUES) in Turbo Prolog, with self-test routines.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Operator answers only a few yes/no questions; has an explanation facility.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Limited to one computer interface; old platform.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“EXPERT-MM: A Knowledge-Based System for Maintenance Management,” Artificial Intelligence in Engineering, Vol. 8, No. 4, 2021.</a:t>
                      </a:r>
                      <a:endParaRPr lang="en-US" sz="1100" b="0" strike="noStrike" spc="-1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Rule-based with backward chaining; 154 diagnosis rules for an air compressor.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Joins machine diagnosis with maintenance policy and scheduling.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Built for one plant; needs a large expert-built rule base.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“Fault Diagnosis in an Expert System for Health Services Management in the Tropics,” Methods of Information in Medicine, Vol. 36, No. 2, 2024</a:t>
                      </a:r>
                      <a:endParaRPr lang="en-US" sz="1100" b="0" strike="noStrike" spc="-1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Backward and forward chaining with fuzzy logic; top-down fault isolation.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Handles vague facts; isolates faults from sub-system to module to component.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Part of a large, complex system; harder to build and maintain.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Han T., Li B. and Xu L., “A Universal Fault Diagnostic Expert System Based on Bayesian Network,” IEEE Int. Conf. on Computer Science and Software Engineering</a:t>
                      </a: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, 2023</a:t>
                      </a:r>
                      <a:endParaRPr lang="en-US" sz="1100" b="0" strike="noStrike" spc="-1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Bayesian network used as the inference engine, with expert knowledge.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Gives probable root causes with probabilities; tried on a chipset factory line.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Needs probability values; harder to explain than simple IF–THEN rules.</a:t>
                      </a:r>
                      <a:endParaRPr lang="en-US" sz="1100" b="0" strike="noStrike" spc="-1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" name="Date Placeholder 6"/>
          <p:cNvSpPr/>
          <p:nvPr/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3/27/2025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Footer Placeholder 7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Slide Number Placeholder 8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1D87068-C212-4A2E-81F9-5B4F10274370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665280"/>
            <a:ext cx="1051560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PROBLEM STATEMENT </a:t>
            </a:r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Maintenance technicians often follow one fixed troubleshooting checklist for every fault.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 checklist asks many unnecessary questions, which wastes time and can still miss the real cause.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Symptoms can be unclear or incomplete, and a checklist cannot reason about them.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 system is needed that asks fewer, more relevant questions, diagnoses accurately and explains the maintenance action.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9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2428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40" name="Date Placeholder 4"/>
          <p:cNvSpPr/>
          <p:nvPr/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3/27/2025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Footer Placeholder 5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Slide Number Placeholder 6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5539036-6B07-467B-9F55-9FC23BFD9D7C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665280"/>
            <a:ext cx="1051560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OBJECTIVES OF THE CAPSTONE PROJECT </a:t>
            </a: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Build a fault–symptom knowledge base for one equipment category with at least 10 faults.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Develop a backward-chaining engine that asks only the relevant diagnostic questions.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Give maintenance recommendations together with a clear explanation.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Compare with a fixed checklist on accuracy, questions asked, diagnosis time, unresolved cases and technician agreement.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5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2428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46" name="Date Placeholder 4"/>
          <p:cNvSpPr/>
          <p:nvPr/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Footer Placeholder 5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Slide Number Placeholder 6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C12C6BF-BC2F-4630-BA32-C2C01D5533B5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665280"/>
            <a:ext cx="1135368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PROPOSED METHODOLOGY – ARCHITECTURE DIAGRAM </a:t>
            </a: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pic>
        <p:nvPicPr>
          <p:cNvPr id="50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2428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52" name="Date Placeholder 5"/>
          <p:cNvSpPr/>
          <p:nvPr/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3/27/2025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Footer Placeholder 6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Slide Number Placeholder 7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D276FC1-37D7-406A-867C-715758DCF0FE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Technician"/>
          <p:cNvSpPr/>
          <p:nvPr/>
        </p:nvSpPr>
        <p:spPr>
          <a:xfrm>
            <a:off x="900000" y="1950000"/>
            <a:ext cx="2200000" cy="10000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9050">
            <a:solidFill>
              <a:srgbClr val="F4B183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Times New Roman"/>
                <a:ea typeface="Times New Roman"/>
              </a:rPr>
              <a:t>Technician</a:t>
            </a:r>
          </a:p>
          <a:p>
            <a:pPr algn="ctr"/>
            <a:r>
              <a:rPr lang="en-US" sz="1200" b="0">
                <a:solidFill>
                  <a:srgbClr val="000000"/>
                </a:solidFill>
                <a:latin typeface="Times New Roman"/>
                <a:ea typeface="Times New Roman"/>
              </a:rPr>
              <a:t>reports the equipment problem</a:t>
            </a:r>
          </a:p>
        </p:txBody>
      </p:sp>
      <p:sp>
        <p:nvSpPr>
          <p:cNvPr id="102" name="Symptom Collection"/>
          <p:cNvSpPr/>
          <p:nvPr/>
        </p:nvSpPr>
        <p:spPr>
          <a:xfrm>
            <a:off x="3650000" y="1950000"/>
            <a:ext cx="2200000" cy="10000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9050">
            <a:solidFill>
              <a:srgbClr val="F4B183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Times New Roman"/>
                <a:ea typeface="Times New Roman"/>
              </a:rPr>
              <a:t>Symptom Collection</a:t>
            </a:r>
          </a:p>
          <a:p>
            <a:pPr algn="ctr"/>
            <a:r>
              <a:rPr lang="en-US" sz="1200" b="0">
                <a:solidFill>
                  <a:srgbClr val="000000"/>
                </a:solidFill>
                <a:latin typeface="Times New Roman"/>
                <a:ea typeface="Times New Roman"/>
              </a:rPr>
              <a:t>temperature, vibration, noise, power, error codes</a:t>
            </a:r>
          </a:p>
        </p:txBody>
      </p:sp>
      <p:sp>
        <p:nvSpPr>
          <p:cNvPr id="103" name="Diagnostic Questioning"/>
          <p:cNvSpPr/>
          <p:nvPr/>
        </p:nvSpPr>
        <p:spPr>
          <a:xfrm>
            <a:off x="6400000" y="1950000"/>
            <a:ext cx="2200000" cy="10000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9050">
            <a:solidFill>
              <a:srgbClr val="F4B183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Times New Roman"/>
                <a:ea typeface="Times New Roman"/>
              </a:rPr>
              <a:t>Diagnostic Questioning</a:t>
            </a:r>
          </a:p>
          <a:p>
            <a:pPr algn="ctr"/>
            <a:r>
              <a:rPr lang="en-US" sz="1200" b="0">
                <a:solidFill>
                  <a:srgbClr val="000000"/>
                </a:solidFill>
                <a:latin typeface="Times New Roman"/>
                <a:ea typeface="Times New Roman"/>
              </a:rPr>
              <a:t>asks the next relevant question</a:t>
            </a:r>
          </a:p>
        </p:txBody>
      </p:sp>
      <p:cxnSp>
        <p:nvCxnSpPr>
          <p:cNvPr id="105" name="Arrow"/>
          <p:cNvCxnSpPr/>
          <p:nvPr/>
        </p:nvCxnSpPr>
        <p:spPr>
          <a:xfrm>
            <a:off x="3100000" y="2450000"/>
            <a:ext cx="549999" cy="0"/>
          </a:xfrm>
          <a:prstGeom prst="straightConnector1">
            <a:avLst/>
          </a:prstGeom>
          <a:ln w="28575">
            <a:solidFill>
              <a:srgbClr val="404040"/>
            </a:solidFill>
            <a:tailEnd type="triangle"/>
          </a:ln>
        </p:spPr>
      </p:cxnSp>
      <p:cxnSp>
        <p:nvCxnSpPr>
          <p:cNvPr id="106" name="Arrow"/>
          <p:cNvCxnSpPr/>
          <p:nvPr/>
        </p:nvCxnSpPr>
        <p:spPr>
          <a:xfrm>
            <a:off x="5850000" y="2450000"/>
            <a:ext cx="550000" cy="0"/>
          </a:xfrm>
          <a:prstGeom prst="straightConnector1">
            <a:avLst/>
          </a:prstGeom>
          <a:ln w="28575">
            <a:solidFill>
              <a:srgbClr val="404040"/>
            </a:solidFill>
            <a:tailEnd type="triangle"/>
          </a:ln>
        </p:spPr>
      </p:cxnSp>
      <p:sp>
        <p:nvSpPr>
          <p:cNvPr id="107" name="Fault Knowledge Base"/>
          <p:cNvSpPr/>
          <p:nvPr/>
        </p:nvSpPr>
        <p:spPr>
          <a:xfrm>
            <a:off x="900000" y="3700000"/>
            <a:ext cx="2900000" cy="9500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9050">
            <a:solidFill>
              <a:srgbClr val="F4B183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Times New Roman"/>
                <a:ea typeface="Times New Roman"/>
              </a:rPr>
              <a:t>Fault Knowledge Base</a:t>
            </a:r>
          </a:p>
          <a:p>
            <a:pPr algn="ctr"/>
            <a:r>
              <a:rPr lang="en-US" sz="1200" b="0">
                <a:solidFill>
                  <a:srgbClr val="000000"/>
                </a:solidFill>
                <a:latin typeface="Times New Roman"/>
                <a:ea typeface="Times New Roman"/>
              </a:rPr>
              <a:t>IF–THEN fault–symptom rules (10+ faults)</a:t>
            </a:r>
          </a:p>
        </p:txBody>
      </p:sp>
      <p:sp>
        <p:nvSpPr>
          <p:cNvPr id="108" name="Backward-Chaining Engine"/>
          <p:cNvSpPr/>
          <p:nvPr/>
        </p:nvSpPr>
        <p:spPr>
          <a:xfrm>
            <a:off x="4500000" y="3700000"/>
            <a:ext cx="3200000" cy="950000"/>
          </a:xfrm>
          <a:prstGeom prst="roundRect">
            <a:avLst>
              <a:gd name="adj" fmla="val 12000"/>
            </a:avLst>
          </a:prstGeom>
          <a:solidFill>
            <a:srgbClr val="F4B183"/>
          </a:solidFill>
          <a:ln w="19050">
            <a:solidFill>
              <a:srgbClr val="C55A11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Times New Roman"/>
                <a:ea typeface="Times New Roman"/>
              </a:rPr>
              <a:t>Backward-Chaining Engine</a:t>
            </a:r>
          </a:p>
          <a:p>
            <a:pPr algn="ctr"/>
            <a:r>
              <a:rPr lang="en-US" sz="1200" b="0">
                <a:solidFill>
                  <a:srgbClr val="000000"/>
                </a:solidFill>
                <a:latin typeface="Times New Roman"/>
                <a:ea typeface="Times New Roman"/>
              </a:rPr>
              <a:t>tests one possible fault at a time</a:t>
            </a:r>
          </a:p>
        </p:txBody>
      </p:sp>
      <p:sp>
        <p:nvSpPr>
          <p:cNvPr id="109" name="Maintenance Advisory"/>
          <p:cNvSpPr/>
          <p:nvPr/>
        </p:nvSpPr>
        <p:spPr>
          <a:xfrm>
            <a:off x="8300000" y="3700000"/>
            <a:ext cx="3050000" cy="9500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9050">
            <a:solidFill>
              <a:srgbClr val="F4B183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Times New Roman"/>
                <a:ea typeface="Times New Roman"/>
              </a:rPr>
              <a:t>Maintenance Advisory</a:t>
            </a:r>
          </a:p>
          <a:p>
            <a:pPr algn="ctr"/>
            <a:r>
              <a:rPr lang="en-US" sz="1200" b="0">
                <a:solidFill>
                  <a:srgbClr val="000000"/>
                </a:solidFill>
                <a:latin typeface="Times New Roman"/>
                <a:ea typeface="Times New Roman"/>
              </a:rPr>
              <a:t>recommended action with explanation</a:t>
            </a:r>
          </a:p>
        </p:txBody>
      </p:sp>
      <p:cxnSp>
        <p:nvCxnSpPr>
          <p:cNvPr id="110" name="Arrow"/>
          <p:cNvCxnSpPr/>
          <p:nvPr/>
        </p:nvCxnSpPr>
        <p:spPr>
          <a:xfrm>
            <a:off x="3800000" y="4175000"/>
            <a:ext cx="700000" cy="0"/>
          </a:xfrm>
          <a:prstGeom prst="straightConnector1">
            <a:avLst/>
          </a:prstGeom>
          <a:ln w="28575">
            <a:solidFill>
              <a:srgbClr val="404040"/>
            </a:solidFill>
            <a:tailEnd type="triangle"/>
          </a:ln>
        </p:spPr>
      </p:cxnSp>
      <p:cxnSp>
        <p:nvCxnSpPr>
          <p:cNvPr id="111" name="Arrow"/>
          <p:cNvCxnSpPr/>
          <p:nvPr/>
        </p:nvCxnSpPr>
        <p:spPr>
          <a:xfrm>
            <a:off x="7700000" y="4175000"/>
            <a:ext cx="600000" cy="0"/>
          </a:xfrm>
          <a:prstGeom prst="straightConnector1">
            <a:avLst/>
          </a:prstGeom>
          <a:ln w="28575">
            <a:solidFill>
              <a:srgbClr val="404040"/>
            </a:solidFill>
            <a:tailEnd type="triangle"/>
          </a:ln>
        </p:spPr>
      </p:cxnSp>
      <p:cxnSp>
        <p:nvCxnSpPr>
          <p:cNvPr id="112" name="Arrow"/>
          <p:cNvCxnSpPr>
            <a:cxnSpLocks/>
          </p:cNvCxnSpPr>
          <p:nvPr/>
        </p:nvCxnSpPr>
        <p:spPr>
          <a:xfrm flipH="1">
            <a:off x="3798891" y="2950000"/>
            <a:ext cx="3082676" cy="750000"/>
          </a:xfrm>
          <a:prstGeom prst="straightConnector1">
            <a:avLst/>
          </a:prstGeom>
          <a:ln w="28575">
            <a:solidFill>
              <a:srgbClr val="404040"/>
            </a:solidFill>
            <a:tailEnd type="triangle"/>
          </a:ln>
        </p:spPr>
      </p:cxnSp>
      <p:sp>
        <p:nvSpPr>
          <p:cNvPr id="115" name="Fixed Troubleshooting Checklist"/>
          <p:cNvSpPr/>
          <p:nvPr/>
        </p:nvSpPr>
        <p:spPr>
          <a:xfrm>
            <a:off x="900000" y="5250000"/>
            <a:ext cx="4400000" cy="850000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 w="19050">
            <a:solidFill>
              <a:srgbClr val="A6A6A6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Times New Roman"/>
                <a:ea typeface="Times New Roman"/>
              </a:rPr>
              <a:t>Fixed Troubleshooting Checklist</a:t>
            </a:r>
          </a:p>
          <a:p>
            <a:pPr algn="ctr"/>
            <a:r>
              <a:rPr lang="en-US" sz="1200" b="0">
                <a:solidFill>
                  <a:srgbClr val="000000"/>
                </a:solidFill>
                <a:latin typeface="Times New Roman"/>
                <a:ea typeface="Times New Roman"/>
              </a:rPr>
              <a:t>comparison method</a:t>
            </a:r>
          </a:p>
        </p:txBody>
      </p:sp>
      <p:sp>
        <p:nvSpPr>
          <p:cNvPr id="116" name="Evaluation"/>
          <p:cNvSpPr/>
          <p:nvPr/>
        </p:nvSpPr>
        <p:spPr>
          <a:xfrm>
            <a:off x="6200000" y="5250000"/>
            <a:ext cx="5150000" cy="8500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9050">
            <a:solidFill>
              <a:srgbClr val="9DC3E6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Times New Roman"/>
                <a:ea typeface="Times New Roman"/>
              </a:rPr>
              <a:t>Evaluation</a:t>
            </a:r>
          </a:p>
          <a:p>
            <a:pPr algn="ctr"/>
            <a:r>
              <a:rPr lang="en-US" sz="1200" b="0">
                <a:solidFill>
                  <a:srgbClr val="000000"/>
                </a:solidFill>
                <a:latin typeface="Times New Roman"/>
                <a:ea typeface="Times New Roman"/>
              </a:rPr>
              <a:t>accuracy, questions asked, time, unresolved cases, technician agreement</a:t>
            </a:r>
          </a:p>
        </p:txBody>
      </p:sp>
      <p:cxnSp>
        <p:nvCxnSpPr>
          <p:cNvPr id="117" name="Arrow"/>
          <p:cNvCxnSpPr/>
          <p:nvPr/>
        </p:nvCxnSpPr>
        <p:spPr>
          <a:xfrm>
            <a:off x="5300000" y="5675000"/>
            <a:ext cx="900000" cy="0"/>
          </a:xfrm>
          <a:prstGeom prst="straightConnector1">
            <a:avLst/>
          </a:prstGeom>
          <a:ln w="28575">
            <a:solidFill>
              <a:srgbClr val="404040"/>
            </a:solidFill>
            <a:tailEnd type="triangle"/>
          </a:ln>
        </p:spPr>
      </p:cxnSp>
      <p:cxnSp>
        <p:nvCxnSpPr>
          <p:cNvPr id="118" name="Arrow"/>
          <p:cNvCxnSpPr>
            <a:cxnSpLocks/>
            <a:endCxn id="115" idx="0"/>
          </p:cNvCxnSpPr>
          <p:nvPr/>
        </p:nvCxnSpPr>
        <p:spPr>
          <a:xfrm flipH="1">
            <a:off x="3100000" y="4650000"/>
            <a:ext cx="6700000" cy="600000"/>
          </a:xfrm>
          <a:prstGeom prst="straightConnector1">
            <a:avLst/>
          </a:prstGeom>
          <a:ln w="28575">
            <a:solidFill>
              <a:srgbClr val="404040"/>
            </a:solidFill>
            <a:tailEnd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665280"/>
            <a:ext cx="1051560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APPLICATIONS OF THE RESEARCH </a:t>
            </a:r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Factories and workshops: </a:t>
            </a: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faster fault finding on machines and equipment.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Maintenance teams: </a:t>
            </a: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 step-by-step guide for new or less experienced technicians.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Training: </a:t>
            </a: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shows trainees how an expert reasons from symptoms to a fault.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Hospitals, labs and service centres: </a:t>
            </a: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quicker repair of important equipment.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Business benefit: </a:t>
            </a: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less downtime and lower maintenance cost.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7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2428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58" name="Date Placeholder 4"/>
          <p:cNvSpPr/>
          <p:nvPr/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3/27/2025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Footer Placeholder 5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Slide Number Placeholder 6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86C95E6-4332-4EA9-8A32-0601D9CADC22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665280"/>
            <a:ext cx="1051560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PROJECT DEMO </a:t>
            </a:r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Live demo: </a:t>
            </a:r>
            <a:r>
              <a:rPr lang="en-US" sz="2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 expert system diagnoses a simulated equipment fault.</a:t>
            </a:r>
            <a:endParaRPr lang="en-US" sz="22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Step 1: </a:t>
            </a:r>
            <a:r>
              <a:rPr lang="en-US" sz="2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 technician enters the first symptom, for example high temperature.</a:t>
            </a:r>
            <a:endParaRPr lang="en-US" sz="22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Step 2: </a:t>
            </a:r>
            <a:r>
              <a:rPr lang="en-US" sz="2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 system picks a possible fault and asks one relevant question at a time.</a:t>
            </a:r>
            <a:endParaRPr lang="en-US" sz="22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Step 3: </a:t>
            </a:r>
            <a:r>
              <a:rPr lang="en-US" sz="2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each answer confirms or rejects the fault, then the next fault is tried.</a:t>
            </a:r>
            <a:endParaRPr lang="en-US" sz="22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Step 4: </a:t>
            </a:r>
            <a:r>
              <a:rPr lang="en-US" sz="2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 system shows the fault, the maintenance action and the reason.</a:t>
            </a:r>
            <a:endParaRPr lang="en-US" sz="22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Step 5: </a:t>
            </a:r>
            <a:r>
              <a:rPr lang="en-US" sz="2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 same case is run on the fixed checklist for comparison.</a:t>
            </a:r>
            <a:endParaRPr lang="en-US" sz="22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62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2428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63" name="Date Placeholder 4"/>
          <p:cNvSpPr/>
          <p:nvPr/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3/27/2025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Footer Placeholder 5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Slide Number Placeholder 6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0003885-5079-4486-B99E-C203BB0FB9E1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665280"/>
            <a:ext cx="1051560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DESCRIPTION ABOUT THE DATASETS USED</a:t>
            </a: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 project does not depend on a large external dataset. It uses a fault–symptom knowledge base built for one equipment category.</a:t>
            </a:r>
            <a:endParaRPr lang="en-US" sz="22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 knowledge base covers at least 10 faults, each linked to its symptoms (temperature, vibration, noise, power status, error codes).</a:t>
            </a:r>
            <a:endParaRPr lang="en-US" sz="22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Test cases are simulated equipment faults: technician-validated faults, ambiguous symptoms and insufficient information.</a:t>
            </a:r>
            <a:endParaRPr lang="en-US" sz="22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 same test cases are given to both the expert system and the fixed checklist.</a:t>
            </a:r>
            <a:endParaRPr lang="en-US" sz="22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68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2428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69" name="Date Placeholder 4"/>
          <p:cNvSpPr/>
          <p:nvPr/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3/27/2025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Footer Placeholder 5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Slide Number Placeholder 6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7EE7AD3-884B-49F6-BE59-31B121180FC2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665280"/>
            <a:ext cx="1051560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STEPS OF PROPOSED METHODOLOGY </a:t>
            </a:r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Step 1 – Symptom Collection: </a:t>
            </a: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take the inputs: temperature, vibration, noise, power status and error codes.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Step 2 – Fault Knowledge Base: </a:t>
            </a: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store at least 10 faults and the symptoms that point to each one as IF–THEN rules.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Keep it simple: </a:t>
            </a: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every rule is short and easy to read and check with a technician.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2428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75" name="Date Placeholder 4"/>
          <p:cNvSpPr/>
          <p:nvPr/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3/27/2025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Footer Placeholder 5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Slide Number Placeholder 6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175633C-F779-4C35-A01C-C722F85F6014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665280"/>
            <a:ext cx="1051560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STEPS OF PROPOSED METHODOLOGY </a:t>
            </a:r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Step 3 – Diagnostic Questioning: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 system asks one relevant question at a time and records the answer.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Step 4 – Backward Chaining: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pick a possible fault as the goal, then check its symptoms one by one.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If the answers support the fault,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it is confirmed. If not, it is rejected and the next possible fault is tried.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Answers already given are reused,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which keeps the number of questions low.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80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2428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81" name="Date Placeholder 4"/>
          <p:cNvSpPr/>
          <p:nvPr/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3/27/2025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Footer Placeholder 5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Slide Number Placeholder 6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F8329A5-C7B8-4486-AD93-20742BA8B7C1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665280"/>
            <a:ext cx="1051560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STEPS OF PROPOSED METHODOLOGY </a:t>
            </a:r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Step 5 – Maintenance Advisory: </a:t>
            </a:r>
            <a:r>
              <a:rPr lang="en-US" sz="2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show the diagnosed fault, the recommended maintenance action and the reason.</a:t>
            </a:r>
            <a:endParaRPr lang="en-US" sz="22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Step 6 – Fixed Checklist: </a:t>
            </a:r>
            <a:r>
              <a:rPr lang="en-US" sz="2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build a checklist that asks every question in a set order, for comparison.</a:t>
            </a:r>
            <a:endParaRPr lang="en-US" sz="22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Step 7 – Evaluation: </a:t>
            </a:r>
            <a:r>
              <a:rPr lang="en-US" sz="2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run both methods on the same cases and measure accuracy, questions asked, diagnosis time, unresolved cases and agreement with technicians.</a:t>
            </a:r>
            <a:endParaRPr lang="en-US" sz="22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Not enough information? </a:t>
            </a:r>
            <a:r>
              <a:rPr lang="en-US" sz="2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 case is reported as unresolved instead of guessing.</a:t>
            </a:r>
            <a:endParaRPr lang="en-US" sz="22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86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2428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87" name="Date Placeholder 4"/>
          <p:cNvSpPr/>
          <p:nvPr/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3/27/2025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Footer Placeholder 5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Slide Number Placeholder 6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3001C2A-6CC2-425F-B06F-11ABC996EA75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15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665280"/>
            <a:ext cx="1051560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MODULE 1 – EQUIPMENT SYMPTOM COLLECTION</a:t>
            </a:r>
            <a:endParaRPr lang="en-US" sz="3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>
              <a:lnSpc>
                <a:spcPct val="11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What it does: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collects the symptoms of the faulty equipment from the technician.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Inputs: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temperature, vibration, noise, power status and error codes (as applicable).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Output: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 list of symptoms that the system uses as its starting facts.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Why it matters: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correct symptoms are the base for a correct diagnosis.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86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2428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87" name="Date Placeholder 4"/>
          <p:cNvSpPr/>
          <p:nvPr/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3/27/2025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Footer Placeholder 5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Slide Number Placeholder 6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3001C2A-6CC2-425F-B06F-11ABC996EA75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16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665280"/>
            <a:ext cx="1051560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MODULE 2 – FAULT KNOWLEDGE BASE</a:t>
            </a:r>
            <a:endParaRPr lang="en-US" sz="3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>
              <a:lnSpc>
                <a:spcPct val="11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What it does: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stores expert knowledge about equipment faults.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Content: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at least 10 faults for one equipment category, each linked to its symptoms.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Format: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simple IF–THEN rules that are easy to read and check with a technician.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Why it matters: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all knowledge is in one place, so new faults can be added easily.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86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2428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87" name="Date Placeholder 4"/>
          <p:cNvSpPr/>
          <p:nvPr/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3/27/2025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Footer Placeholder 5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Slide Number Placeholder 6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3001C2A-6CC2-425F-B06F-11ABC996EA75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17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665280"/>
            <a:ext cx="1051560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MODULE 3 – DIAGNOSTIC QUESTIONING</a:t>
            </a:r>
            <a:endParaRPr lang="en-US" sz="3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>
              <a:lnSpc>
                <a:spcPct val="11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What it does: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talks to the technician through an interactive questionnaire.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How: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asks one relevant question at a time and records the answer.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Smart questions: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 questions depend on the fault being tested, so unnecessary ones are skipped.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Output: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 technician’s answers, passed to the inference engine.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86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2428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87" name="Date Placeholder 4"/>
          <p:cNvSpPr/>
          <p:nvPr/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3/27/2025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Footer Placeholder 5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Slide Number Placeholder 6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3001C2A-6CC2-425F-B06F-11ABC996EA75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18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665280"/>
            <a:ext cx="1051560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MODULE 4 – BACKWARD-CHAINING ENGINE</a:t>
            </a:r>
            <a:endParaRPr lang="en-US" sz="3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>
              <a:lnSpc>
                <a:spcPct val="11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What it does: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 reasoning part of the system.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How: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picks a possible fault as the goal, then checks its symptoms one by one.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Decision: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if the answers support the fault it is confirmed; if not, it is rejected and the next fault is tried.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Not enough information?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 case is reported as unresolved instead of guessing.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86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2428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87" name="Date Placeholder 4"/>
          <p:cNvSpPr/>
          <p:nvPr/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3/27/2025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Footer Placeholder 5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Slide Number Placeholder 6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3001C2A-6CC2-425F-B06F-11ABC996EA75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19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665280"/>
            <a:ext cx="1051560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MODULE 5 – MAINTENANCE ADVISORY</a:t>
            </a:r>
            <a:endParaRPr lang="en-US" sz="3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>
              <a:lnSpc>
                <a:spcPct val="11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What it does: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gives the final result to the technician.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Output: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 diagnosed fault, the recommended maintenance action and the reason.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Explanation: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shows the rules and answers that led to the diagnosis.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Evaluation: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results are compared with the fixed checklist and with technician assessments.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86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2428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87" name="Date Placeholder 4"/>
          <p:cNvSpPr/>
          <p:nvPr/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3/27/2025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Footer Placeholder 5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Slide Number Placeholder 6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3001C2A-6CC2-425F-B06F-11ABC996EA75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20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665280"/>
            <a:ext cx="1051560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RESULTS AND DISCUSSION</a:t>
            </a:r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Both methods are tested on the same simulated equipment faults.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Three kinds of cases are used: technician-validated faults, ambiguous symptoms and insufficient information.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Measures recorded: diagnostic accuracy, average questions asked, diagnosis time, unresolved-case rate and agreement with technician assessments.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2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2428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93" name="Date Placeholder 4"/>
          <p:cNvSpPr/>
          <p:nvPr/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3/27/2025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Footer Placeholder 5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Slide Number Placeholder 6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BCCAADC-BE5A-40B0-903D-A581E9D8DD9A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21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665280"/>
            <a:ext cx="1051560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RESULTS AND DISCUSSION</a:t>
            </a:r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Accuracy: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how often the diagnosed fault matches the technician’s assessment.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Questions and time: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 expert system asks only what is needed, while the checklist asks everything.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Unresolved cases: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 system says “unresolved” when information is insufficient, instead of giving a wrong answer.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Explanation: </a:t>
            </a:r>
            <a:r>
              <a:rPr lang="en-US" sz="23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every diagnosis comes with the rules and answers that led to it.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8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2428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99" name="Date Placeholder 4"/>
          <p:cNvSpPr/>
          <p:nvPr/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3/27/2025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Footer Placeholder 5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Slide Number Placeholder 6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11C6E34-4151-448A-A9AB-A3705A087DD8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22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665280"/>
            <a:ext cx="1051560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COMPARISON AND ANALYSIS</a:t>
            </a:r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Fixed checklist: </a:t>
            </a:r>
            <a:r>
              <a:rPr lang="en-US" sz="2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same questions in the same order for every fault.</a:t>
            </a:r>
            <a:endParaRPr lang="en-US" sz="22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Expert system: </a:t>
            </a:r>
            <a:r>
              <a:rPr lang="en-US" sz="2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questions change according to the earlier answers.</a:t>
            </a:r>
            <a:endParaRPr lang="en-US" sz="22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Fixed checklist: </a:t>
            </a:r>
            <a:r>
              <a:rPr lang="en-US" sz="2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gives no explanation and struggles with unclear symptoms.</a:t>
            </a:r>
            <a:endParaRPr lang="en-US" sz="22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Expert system: </a:t>
            </a:r>
            <a:r>
              <a:rPr lang="en-US" sz="2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explains the diagnosis and handles ambiguous or missing information.</a:t>
            </a:r>
            <a:endParaRPr lang="en-US" sz="22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Both are compared on </a:t>
            </a:r>
            <a:r>
              <a:rPr lang="en-US" sz="2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accuracy, questions asked, time, unresolved cases and technician agreement.</a:t>
            </a:r>
            <a:endParaRPr lang="en-US" sz="22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4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2428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105" name="Date Placeholder 4"/>
          <p:cNvSpPr/>
          <p:nvPr/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3/27/2025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Footer Placeholder 5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Slide Number Placeholder 6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0B48505-56B8-440F-B7E5-B28C3F4DA05C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23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665280"/>
            <a:ext cx="1051560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CONCLUSION</a:t>
            </a:r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 backward-chaining expert system diagnoses faults by asking only the relevant questions.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It aims to improve diagnostic accuracy and reduce the number of questions compared with a fixed checklist.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Explanations and maintenance advice help technicians trust the result and act on it.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 approach is simple, easy to check and can be extended to other equipment.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0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2428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111" name="Date Placeholder 4"/>
          <p:cNvSpPr/>
          <p:nvPr/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3/27/2025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Footer Placeholder 5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Slide Number Placeholder 6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906F96A-5267-4ABE-A1A5-DF8E59D63013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24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665280"/>
            <a:ext cx="1051560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FUTURE ENHANCEMENTS</a:t>
            </a:r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Add more equipment categories and more faults.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Connect live sensor data (temperature, vibration) so answers are filled in automatically.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Add confidence levels for uncertain symptoms.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Build a mobile-friendly interface for technicians, with local-language support.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Learn new rules from past repair records.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6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2428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117" name="Date Placeholder 4"/>
          <p:cNvSpPr/>
          <p:nvPr/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3/27/2025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Footer Placeholder 5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Slide Number Placeholder 6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9541D75-3E0E-4217-BDFA-DD4CAE4ECED8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25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8080" y="665280"/>
            <a:ext cx="1051560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REFERENCES</a:t>
            </a:r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[1] D. V. Kodavade and S. D. Apte, “Troubleshooting Microprocessor Based System using an Object Oriented Expert System,” International Journal of Advanced Computer Science and Applications (IJACSA), vol. 3, no. 5, 2011.</a:t>
            </a:r>
            <a:endParaRPr lang="en-US" sz="17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[2] “An Expert System to Discover Cause of Failure for IBM Microcomputer Peripherals Interface,” Int. Conf. on Aerospace Sciences and Aviation Technology (ASAT), Cairo, vol. 3, pp. 1101–1104, 1989.</a:t>
            </a:r>
            <a:endParaRPr lang="en-US" sz="17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[3] “EXPERT-MM: A Knowledge-Based System for Maintenance Management,” Artificial Intelligence in Engineering, vol. 8, no. 4, pp. 283–291, 1993.</a:t>
            </a:r>
            <a:endParaRPr lang="en-US" sz="17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[4] “Fault Diagnosis in an Expert System for Health Services Management in the Tropics,” Methods of Information in Medicine, vol. 36, no. 2, pp. 134–138, 1997.</a:t>
            </a:r>
            <a:endParaRPr lang="en-US" sz="17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[5] T. Han, B. Li and L. Xu, “A Universal Fault Diagnostic Expert System Based on Bayesian Network,” Proc. IEEE Int. Conf. on Computer Science and Software Engineering, pp. 260–265, 2008.</a:t>
            </a:r>
            <a:endParaRPr lang="en-US" sz="17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22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2428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123" name="Date Placeholder 4"/>
          <p:cNvSpPr/>
          <p:nvPr/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3/27/2025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Footer Placeholder 5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Slide Number Placeholder 6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F3E8337-07B8-4709-BD0C-33D9E9221DFD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26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33480" y="2542680"/>
            <a:ext cx="10515600" cy="212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7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THANK YOU </a:t>
            </a:r>
            <a:endParaRPr lang="en-US" sz="7200" b="0" strike="noStrike" spc="-1">
              <a:solidFill>
                <a:srgbClr val="000000"/>
              </a:solidFill>
              <a:latin typeface="Calibri Light"/>
            </a:endParaRPr>
          </a:p>
        </p:txBody>
      </p:sp>
      <p:pic>
        <p:nvPicPr>
          <p:cNvPr id="127" name="image3.png" descr="C:\Users\ADMIN\AppData\Local\Microsoft\Windows\INetCache\Content.MSO\C29DB0A6.tmp"/>
          <p:cNvPicPr/>
          <p:nvPr/>
        </p:nvPicPr>
        <p:blipFill>
          <a:blip r:embed="rId2"/>
          <a:stretch/>
        </p:blipFill>
        <p:spPr>
          <a:xfrm>
            <a:off x="2924280" y="52560"/>
            <a:ext cx="5313240" cy="544320"/>
          </a:xfrm>
          <a:prstGeom prst="rect">
            <a:avLst/>
          </a:prstGeom>
          <a:ln w="0">
            <a:noFill/>
          </a:ln>
        </p:spPr>
      </p:pic>
      <p:sp>
        <p:nvSpPr>
          <p:cNvPr id="128" name="Date Placeholder 4"/>
          <p:cNvSpPr/>
          <p:nvPr/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3/27/2025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Footer Placeholder 5"/>
          <p:cNvSpPr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CAPSTONE PROJECT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Slide Number Placeholder 6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4ABA047-9BF9-465C-9F7E-32E18A8D0D78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27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</TotalTime>
  <Words>2349</Words>
  <Application>Microsoft Office PowerPoint</Application>
  <PresentationFormat>Custom</PresentationFormat>
  <Paragraphs>252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Times New Roman</vt:lpstr>
      <vt:lpstr>Office</vt:lpstr>
      <vt:lpstr>Improving Equipment Fault Diagnosis Accuracy and Reducing Diagnostic Questions for Maintenance Technicians Using a Backward-Chaining Expert System Compared with a Fixed Troubleshooting Checklist</vt:lpstr>
      <vt:lpstr>AGENDA </vt:lpstr>
      <vt:lpstr>ABSTRACT </vt:lpstr>
      <vt:lpstr>INTRODUCTION </vt:lpstr>
      <vt:lpstr>INTRODUCTION </vt:lpstr>
      <vt:lpstr>LITERATURE REVIEW </vt:lpstr>
      <vt:lpstr>PROBLEM STATEMENT </vt:lpstr>
      <vt:lpstr>OBJECTIVES OF THE CAPSTONE PROJECT </vt:lpstr>
      <vt:lpstr>PROPOSED METHODOLOGY – ARCHITECTURE DIAGRAM </vt:lpstr>
      <vt:lpstr>APPLICATIONS OF THE RESEARCH </vt:lpstr>
      <vt:lpstr>PROJECT DEMO </vt:lpstr>
      <vt:lpstr>DESCRIPTION ABOUT THE DATASETS USED</vt:lpstr>
      <vt:lpstr>STEPS OF PROPOSED METHODOLOGY </vt:lpstr>
      <vt:lpstr>STEPS OF PROPOSED METHODOLOGY </vt:lpstr>
      <vt:lpstr>STEPS OF PROPOSED METHODOLOGY </vt:lpstr>
      <vt:lpstr>MODULE 1 – EQUIPMENT SYMPTOM COLLECTION</vt:lpstr>
      <vt:lpstr>MODULE 2 – FAULT KNOWLEDGE BASE</vt:lpstr>
      <vt:lpstr>MODULE 3 – DIAGNOSTIC QUESTIONING</vt:lpstr>
      <vt:lpstr>MODULE 4 – BACKWARD-CHAINING ENGINE</vt:lpstr>
      <vt:lpstr>MODULE 5 – MAINTENANCE ADVISORY</vt:lpstr>
      <vt:lpstr>RESULTS AND DISCUSSION</vt:lpstr>
      <vt:lpstr>RESULTS AND DISCUSSION</vt:lpstr>
      <vt:lpstr>COMPARISON AND ANALYSIS</vt:lpstr>
      <vt:lpstr>CONCLUSION</vt:lpstr>
      <vt:lpstr>FUTURE ENHANCEMENTS</vt:lpstr>
      <vt:lpstr>REFERENCES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PRADEEP kumaR</cp:lastModifiedBy>
  <cp:revision>5</cp:revision>
  <dcterms:modified xsi:type="dcterms:W3CDTF">2026-10-21T04:45:19Z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2025-03-26T04:06:15Z</dcterms:created>
  <dc:creator>win10</dc:creator>
  <dc:description/>
  <dc:language>en-US</dc:language>
  <cp:lastModifiedBy>Admin</cp:lastModifiedBy>
  <dcterms:modified xsi:type="dcterms:W3CDTF">2026-10-10T03:40:04Z</dcterms:modified>
  <cp:revision>19</cp:revision>
  <dc:subject/>
  <dc:title>TITLE OF THE PROJECT</dc:title>
</cp:coreProperties>
</file>